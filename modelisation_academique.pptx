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0" cy="3657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de la chaîne pharmaceutique française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Multi-Agent sous asymétrie d'information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822960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2057400"/>
            <a:ext cx="164592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9808" y="20756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33172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ruptures de stock pharmaceutiques résultent d'une asymétrie d'information entre les acteurs de la chaîne — chaque agent prend ses décisions sans voir ce que font les autres.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164592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9808" y="29443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320040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de ShortageSim (Cui et al., AAAI 2026) au contexte pharmaceutique français : ajout du grossiste répartiteur, adaptation à l'ANSM, intégration de la prévision ML.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64592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49808" y="3813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" y="406908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à 5 agents — 2 circuits parallèles — identification du maillon critique — solution par prévision ML différenciée selon le type de médicament.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800600"/>
            <a:ext cx="822960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ShortageSim (Cui et al., AAAI 2026)  ·  Wang et al. (2025)  ·  Benhabib et al. (2020)  ·  Données ANSM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— Deux circuits parallèles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841248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ville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600200" cy="914400"/>
          </a:xfrm>
          <a:prstGeom prst="rect">
            <a:avLst/>
          </a:prstGeom>
          <a:solidFill>
            <a:srgbClr val="E8E8E8"/>
          </a:solidFill>
          <a:ln w="9525">
            <a:solidFill>
              <a:srgbClr val="1A1A1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1480" y="10058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matières premières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 · Chine · Europe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103120" y="960120"/>
            <a:ext cx="1600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148840" y="10058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48840" y="148132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Sanofi · Pfizer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Servier · Roche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840480" y="960120"/>
            <a:ext cx="1600200" cy="914400"/>
          </a:xfrm>
          <a:prstGeom prst="rect">
            <a:avLst/>
          </a:prstGeom>
          <a:solidFill>
            <a:srgbClr val="D6E4F0"/>
          </a:solidFill>
          <a:ln w="19050">
            <a:solidFill>
              <a:srgbClr val="1A3A5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886200" y="10058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Grossiste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Répartiteur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86200" y="148132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 · Cerp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577840" y="960120"/>
            <a:ext cx="1600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623560" y="10058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ville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23560" y="148132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Maillon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obligatoire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315200" y="960120"/>
            <a:ext cx="1600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360920" y="10058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60920" y="148132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D(t) = D₀ + ε(t)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965960" y="1417320"/>
            <a:ext cx="18288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703320" y="1417320"/>
            <a:ext cx="18288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611880" y="121615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2-8 sem.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440680" y="1417320"/>
            <a:ext cx="18288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349240" y="121615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24-48h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7178040" y="1417320"/>
            <a:ext cx="18288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2103120" y="1691640"/>
            <a:ext cx="5074920" cy="0"/>
          </a:xfrm>
          <a:prstGeom prst="line">
            <a:avLst/>
          </a:prstGeom>
          <a:noFill/>
          <a:ln w="6350">
            <a:solidFill>
              <a:srgbClr val="4A4A4A"/>
            </a:solidFill>
            <a:prstDash val="dash"/>
            <a:headEnd type="triangle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103120" y="1737360"/>
            <a:ext cx="5074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flux d'information / commandes remontantes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65760" y="2029968"/>
            <a:ext cx="841248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65760" y="21031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hôpital — accès direct fabricant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03120" y="2423160"/>
            <a:ext cx="1600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148840" y="246888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148840" y="2907792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(même agent)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389120" y="2423160"/>
            <a:ext cx="1600200" cy="868680"/>
          </a:xfrm>
          <a:prstGeom prst="rect">
            <a:avLst/>
          </a:prstGeom>
          <a:solidFill>
            <a:srgbClr val="D6E4F0"/>
          </a:solidFill>
          <a:ln w="19050">
            <a:solidFill>
              <a:srgbClr val="1A3A5C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434840" y="246888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Hospitalière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434840" y="2907792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 · Cliniques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675120" y="2423160"/>
            <a:ext cx="1600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720840" y="246888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hospitalisé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20840" y="2907792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Urgences · Bloc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Réanimation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703320" y="2852928"/>
            <a:ext cx="73152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5989320" y="2852928"/>
            <a:ext cx="73152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2898648" y="1417320"/>
            <a:ext cx="1600200" cy="1005840"/>
          </a:xfrm>
          <a:prstGeom prst="line">
            <a:avLst/>
          </a:prstGeom>
          <a:noFill/>
          <a:ln w="9525">
            <a:solidFill>
              <a:srgbClr val="4A4A4A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3200400" y="19202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directe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(bypass grossiste)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65760" y="3401568"/>
            <a:ext cx="8412480" cy="658368"/>
          </a:xfrm>
          <a:prstGeom prst="rect">
            <a:avLst/>
          </a:prstGeom>
          <a:solidFill>
            <a:srgbClr val="D6E4F0"/>
          </a:solidFill>
          <a:ln w="9525">
            <a:solidFill>
              <a:srgbClr val="1A3A5C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48640" y="34564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clé (asymétrie d'information) 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" y="373075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l'hôpital commande massivement en direct (ex. Covid-19), il réduit la capacité disponible pour le grossiste répartiteur. Les pharmacies de ville se retrouvent en rupture sans comprendre pourquoi — aucun agent ne voit l'ensemble de la chaîne.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48640" y="4206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Régulateur — ANSM :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423160" y="420624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Surveille le niveau global de rupture · Émet des alertes publiques · Ne voit pas les capacités individuelles ni les stocks des agents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65760" y="473659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— Architecture de la chaîne pharmaceutique française modélisée comme système multi-agent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Asymétrie d'information — Disponibilité des variables par agent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841248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65760" y="685800"/>
            <a:ext cx="292608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" y="685800"/>
            <a:ext cx="29260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685800"/>
            <a:ext cx="109728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291840" y="6858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685800"/>
            <a:ext cx="109728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389120" y="6858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Grossiste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0" y="685800"/>
            <a:ext cx="109728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0" y="6858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0" y="685800"/>
            <a:ext cx="109728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83680" y="6858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Hôpital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680960" y="685800"/>
            <a:ext cx="109728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680960" y="6858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014984"/>
            <a:ext cx="2926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65760" y="1014984"/>
            <a:ext cx="29260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de production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101498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291840" y="10149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101498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389120" y="10149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0" y="101498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86400" y="10149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0" y="101498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583680" y="10149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680960" y="101498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680960" y="10149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1380744"/>
            <a:ext cx="29260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65760" y="1380744"/>
            <a:ext cx="29260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propre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380744"/>
            <a:ext cx="10972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291840" y="13807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89120" y="1380744"/>
            <a:ext cx="10972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389120" y="13807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0" y="1380744"/>
            <a:ext cx="10972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486400" y="13807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83680" y="1380744"/>
            <a:ext cx="10972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583680" y="13807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680960" y="1380744"/>
            <a:ext cx="10972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680960" y="13807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1746504"/>
            <a:ext cx="2926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65760" y="1746504"/>
            <a:ext cx="29260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reçues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91840" y="174650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291840" y="17465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389120" y="174650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4389120" y="17465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0" y="174650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486400" y="17465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583680" y="174650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583680" y="17465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680960" y="174650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7680960" y="17465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65760" y="2112264"/>
            <a:ext cx="29260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365760" y="2112264"/>
            <a:ext cx="29260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fabricant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112264"/>
            <a:ext cx="10972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3291840" y="21122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389120" y="2112264"/>
            <a:ext cx="10972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389120" y="21122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486400" y="2112264"/>
            <a:ext cx="10972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5486400" y="21122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583680" y="2112264"/>
            <a:ext cx="10972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6583680" y="21122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680960" y="2112264"/>
            <a:ext cx="10972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7680960" y="21122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65760" y="2478024"/>
            <a:ext cx="2926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365760" y="2478024"/>
            <a:ext cx="29260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du grossiste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291840" y="247802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3291840" y="24780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389120" y="247802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4389120" y="24780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486400" y="247802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5486400" y="24780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583680" y="247802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6583680" y="24780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7680960" y="247802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7680960" y="24780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365760" y="2843784"/>
            <a:ext cx="29260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365760" y="2843784"/>
            <a:ext cx="29260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des pharmacies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2843784"/>
            <a:ext cx="10972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3291840" y="28437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4389120" y="2843784"/>
            <a:ext cx="10972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4389120" y="28437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5486400" y="2843784"/>
            <a:ext cx="10972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5486400" y="28437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6583680" y="2843784"/>
            <a:ext cx="10972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6583680" y="28437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7680960" y="2843784"/>
            <a:ext cx="10972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7680960" y="28437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365760" y="3209544"/>
            <a:ext cx="2926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365760" y="3209544"/>
            <a:ext cx="29260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patient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3291840" y="320954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3291840" y="32095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4389120" y="320954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4389120" y="32095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5486400" y="320954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95" name="Text 93"/>
          <p:cNvSpPr/>
          <p:nvPr/>
        </p:nvSpPr>
        <p:spPr>
          <a:xfrm>
            <a:off x="5486400" y="32095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6583680" y="320954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6583680" y="32095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7680960" y="320954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7680960" y="32095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365760" y="3575304"/>
            <a:ext cx="29260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365760" y="3575304"/>
            <a:ext cx="29260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Rupture globale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3575304"/>
            <a:ext cx="10972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03" name="Text 101"/>
          <p:cNvSpPr/>
          <p:nvPr/>
        </p:nvSpPr>
        <p:spPr>
          <a:xfrm>
            <a:off x="3291840" y="35753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4389120" y="3575304"/>
            <a:ext cx="10972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05" name="Text 103"/>
          <p:cNvSpPr/>
          <p:nvPr/>
        </p:nvSpPr>
        <p:spPr>
          <a:xfrm>
            <a:off x="4389120" y="35753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5486400" y="3575304"/>
            <a:ext cx="10972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07" name="Text 105"/>
          <p:cNvSpPr/>
          <p:nvPr/>
        </p:nvSpPr>
        <p:spPr>
          <a:xfrm>
            <a:off x="5486400" y="35753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6583680" y="3575304"/>
            <a:ext cx="10972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09" name="Text 107"/>
          <p:cNvSpPr/>
          <p:nvPr/>
        </p:nvSpPr>
        <p:spPr>
          <a:xfrm>
            <a:off x="6583680" y="35753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7680960" y="3575304"/>
            <a:ext cx="10972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11" name="Text 109"/>
          <p:cNvSpPr/>
          <p:nvPr/>
        </p:nvSpPr>
        <p:spPr>
          <a:xfrm>
            <a:off x="7680960" y="35753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2" name="Shape 110"/>
          <p:cNvSpPr/>
          <p:nvPr/>
        </p:nvSpPr>
        <p:spPr>
          <a:xfrm>
            <a:off x="365760" y="3941064"/>
            <a:ext cx="2926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13" name="Text 111"/>
          <p:cNvSpPr/>
          <p:nvPr/>
        </p:nvSpPr>
        <p:spPr>
          <a:xfrm>
            <a:off x="365760" y="3941064"/>
            <a:ext cx="29260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ANSM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3291840" y="394106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15" name="Text 113"/>
          <p:cNvSpPr/>
          <p:nvPr/>
        </p:nvSpPr>
        <p:spPr>
          <a:xfrm>
            <a:off x="3291840" y="3941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4389120" y="394106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17" name="Text 115"/>
          <p:cNvSpPr/>
          <p:nvPr/>
        </p:nvSpPr>
        <p:spPr>
          <a:xfrm>
            <a:off x="4389120" y="3941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5486400" y="394106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19" name="Text 117"/>
          <p:cNvSpPr/>
          <p:nvPr/>
        </p:nvSpPr>
        <p:spPr>
          <a:xfrm>
            <a:off x="5486400" y="3941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6583680" y="394106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21" name="Text 119"/>
          <p:cNvSpPr/>
          <p:nvPr/>
        </p:nvSpPr>
        <p:spPr>
          <a:xfrm>
            <a:off x="6583680" y="3941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7680960" y="394106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23" name="Text 121"/>
          <p:cNvSpPr/>
          <p:nvPr/>
        </p:nvSpPr>
        <p:spPr>
          <a:xfrm>
            <a:off x="7680960" y="3941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4" name="Shape 122"/>
          <p:cNvSpPr/>
          <p:nvPr/>
        </p:nvSpPr>
        <p:spPr>
          <a:xfrm>
            <a:off x="365760" y="4306824"/>
            <a:ext cx="29260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25" name="Text 123"/>
          <p:cNvSpPr/>
          <p:nvPr/>
        </p:nvSpPr>
        <p:spPr>
          <a:xfrm>
            <a:off x="365760" y="4306824"/>
            <a:ext cx="29260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circuit hôpital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3291840" y="4306824"/>
            <a:ext cx="10972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27" name="Text 125"/>
          <p:cNvSpPr/>
          <p:nvPr/>
        </p:nvSpPr>
        <p:spPr>
          <a:xfrm>
            <a:off x="3291840" y="43068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28" name="Shape 126"/>
          <p:cNvSpPr/>
          <p:nvPr/>
        </p:nvSpPr>
        <p:spPr>
          <a:xfrm>
            <a:off x="4389120" y="4306824"/>
            <a:ext cx="10972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29" name="Text 127"/>
          <p:cNvSpPr/>
          <p:nvPr/>
        </p:nvSpPr>
        <p:spPr>
          <a:xfrm>
            <a:off x="4389120" y="43068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30" name="Shape 128"/>
          <p:cNvSpPr/>
          <p:nvPr/>
        </p:nvSpPr>
        <p:spPr>
          <a:xfrm>
            <a:off x="5486400" y="4306824"/>
            <a:ext cx="10972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31" name="Text 129"/>
          <p:cNvSpPr/>
          <p:nvPr/>
        </p:nvSpPr>
        <p:spPr>
          <a:xfrm>
            <a:off x="5486400" y="43068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32" name="Shape 130"/>
          <p:cNvSpPr/>
          <p:nvPr/>
        </p:nvSpPr>
        <p:spPr>
          <a:xfrm>
            <a:off x="6583680" y="4306824"/>
            <a:ext cx="10972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33" name="Text 131"/>
          <p:cNvSpPr/>
          <p:nvPr/>
        </p:nvSpPr>
        <p:spPr>
          <a:xfrm>
            <a:off x="6583680" y="43068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34" name="Shape 132"/>
          <p:cNvSpPr/>
          <p:nvPr/>
        </p:nvSpPr>
        <p:spPr>
          <a:xfrm>
            <a:off x="7680960" y="4306824"/>
            <a:ext cx="109728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35" name="Text 133"/>
          <p:cNvSpPr/>
          <p:nvPr/>
        </p:nvSpPr>
        <p:spPr>
          <a:xfrm>
            <a:off x="7680960" y="43068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36" name="Text 134"/>
          <p:cNvSpPr/>
          <p:nvPr/>
        </p:nvSpPr>
        <p:spPr>
          <a:xfrm>
            <a:off x="365760" y="44348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= information partielle (propre seulement)  ·  ✓ = connue  ·  ✗ = non accessible</a:t>
            </a:r>
            <a:endParaRPr lang="en-US" sz="900" dirty="0"/>
          </a:p>
        </p:txBody>
      </p:sp>
      <p:sp>
        <p:nvSpPr>
          <p:cNvPr id="137" name="Text 135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 — Disponibilité de l'information par agent. Adapté de ShortageSim (Cui et al., AAAI 2026), étendu au contexte pharmaceutique français.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Formalisation mathématique du système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841248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804672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du Fabricant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95160" y="804672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ShortageSim, Eq. (1)(2)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06984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perturbé (i ∈ M_D) :     qᵢ = min{ D/n ,  cᵢ(1−δ) }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271016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normal   (i ∈ M_U) :     qᵢ = min{ D/n + D_unfill / |M_U| ,  cᵢ 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1472184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Demande non satisfaite :    D_unfill = Σ [ D/n − cᵢ(1−δ) ]⁺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67335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Rupture :                   shortage = ( D − Q )⁺    où  Q = Σ qᵢ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1865376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0,14%/semaine, calibré ANSM (prob. disruption)  ·  δ = 20% (ShortageSim, non calibré FR)  ·  n = nb fabricants  ·  D = demande totale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2167128"/>
            <a:ext cx="8412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" y="2221992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Dynamique de stock — Grossiste et Pharmacie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95160" y="2221992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 (2025), Eq. (11)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248716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Stock_grossiste(t+1)  =  Stock_grossiste(t)  +  Livraison_fabricant(t)  −  Commandes_pharmacies(t)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2688336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Stock_pharmacie(t+1)  =  Stock_pharmacie(t)  +  Livraison_grossiste(t)  −  Demande_patient(t)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2889504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Stock_hopital(t+1)    =  Stock_hopital(t)    +  Livraison_directe(t)    −  Demande_services(t)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3282696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Fabricant→Grossiste : 2-8 semaines  ·  Délai Grossiste→Pharmacie : 24-48h  ·  Délai direct : variable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3584448"/>
            <a:ext cx="841248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48640" y="3639312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de la demande (stochastique)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95160" y="3639312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proposée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" y="390448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D(t)  =  D₀  +  ε(t)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" y="4105656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Médicament chronique   :  ε(t) ~ N(0, σ²_c)          σ_c faible, demande stable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4360" y="4306824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Médicament saisonnier  :  ε(t) ~ f_saison(t) + η(t)  pics hiver/printemps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450799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Médicament critique    :  ε(t) ~ N(0, σ²_k)          σ_k ≈ 0, rupture catastrophique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4700016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D₀ = demande de base  ·  ε(t) = variation aléatoire  ·  η(t) = bruit résiduel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des points de rupture et solution proposée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841248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de rupture identifiés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1005840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005840"/>
            <a:ext cx="457200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04241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26187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disruption → qᵢ = min{D/n, cᵢ(1−δ)}  —  Panne · Problème qualité · Pénurie matières premières (40% des cas ANSM)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664208"/>
            <a:ext cx="411480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5760" y="1664208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1664208"/>
            <a:ext cx="457200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17007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Grossiste répartiteur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1920240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Stock_grossiste(t) &lt; seuil_critique  —  Maillon le plus critique — toutes les pharmacies desservies en rupture simultanée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322576"/>
            <a:ext cx="411480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65760" y="2322576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2322576"/>
            <a:ext cx="457200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" y="235915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2578608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Stock_pharmacie(t) = 0  —  Rupture finale visible — patient sans médicament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577840" y="658368"/>
            <a:ext cx="18288" cy="221284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15000" y="65836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proposée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15000" y="1005840"/>
            <a:ext cx="3063240" cy="594360"/>
          </a:xfrm>
          <a:prstGeom prst="rect">
            <a:avLst/>
          </a:prstGeom>
          <a:solidFill>
            <a:srgbClr val="D6E4F0"/>
          </a:solidFill>
          <a:ln w="12700">
            <a:solidFill>
              <a:srgbClr val="1A3A5C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852160" y="105156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ML au niveau R2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52160" y="126187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Prévision de la demande par LSTM/XGBoost au niveau du grossiste pour anticiper les ruptures avant qu'elles se propagent.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715000" y="1691640"/>
            <a:ext cx="306324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852160" y="173736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Différenciation par type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52160" y="194767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optimal selon le profil : SARIMA pour saisonnier · LSTM pour chronique · stock de sécurité renforcé pour critique.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715000" y="2377440"/>
            <a:ext cx="306324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852160" y="242316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Enrichissement des données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52160" y="263347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des données de ventes + alertes ANSM + historique ruptures + délais de livraison pour améliorer la prévision.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035808"/>
            <a:ext cx="841248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65760" y="31272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511296"/>
            <a:ext cx="237744" cy="23774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65760" y="351129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5800" y="3474720"/>
            <a:ext cx="8092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du dataset — fusion Open Medic / Medic’AM (Assurance Maladie) + données ruptures ANSM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3858768"/>
            <a:ext cx="237744" cy="23774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65760" y="385876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5800" y="3822192"/>
            <a:ext cx="8092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Python — premier prototype sur le maillon Grossiste-Pharmacie, calibré sur données ANSM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4206240"/>
            <a:ext cx="237744" cy="23774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65760" y="42062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5800" y="4169664"/>
            <a:ext cx="8092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stochastique — modéliser D(t) = D₀ + ε(t) selon le type de médicament, observer les ruptures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" y="4553712"/>
            <a:ext cx="237744" cy="23774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65760" y="455371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5800" y="4517136"/>
            <a:ext cx="8092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ML — connecter LSTM/XGBoost au niveau du grossiste, mesurer la réduction des ruptures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ShortageSim (Cui et al., AAAI 2026)  ·  Wang et al. (2025)  ·  Données ANSM 2023  ·  Benhabib et al. (2020)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2026-06-12T14:21:35Z</dcterms:created>
  <dcterms:modified xsi:type="dcterms:W3CDTF">2026-06-12T14:21:35Z</dcterms:modified>
</cp:coreProperties>
</file>